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2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3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0" y="1051560"/>
            <a:ext cx="12188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A3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A34E"/>
                </a:solidFill>
                <a:latin typeface="Calibri"/>
                <a:ea typeface="Calibri"/>
                <a:cs typeface="Calibri"/>
                <a:sym typeface="Calibri"/>
              </a:rPr>
              <a:t>NOVAPAY CASE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591556" y="1600200"/>
            <a:ext cx="1005840" cy="1005840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wallet_navy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0156" y="18288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731520" y="2880360"/>
            <a:ext cx="107259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NovaWallet Ledger Service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3703320"/>
            <a:ext cx="10725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A34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A34E"/>
                </a:solidFill>
                <a:latin typeface="Calibri"/>
                <a:ea typeface="Calibri"/>
                <a:cs typeface="Calibri"/>
                <a:sym typeface="Calibri"/>
              </a:rPr>
              <a:t>Backend Engineer · .NET / C#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5088636" y="4343400"/>
            <a:ext cx="2011680" cy="0"/>
          </a:xfrm>
          <a:prstGeom prst="straightConnector1">
            <a:avLst/>
          </a:prstGeom>
          <a:noFill/>
          <a:ln cap="flat" cmpd="sng" w="15875">
            <a:solidFill>
              <a:srgbClr val="1B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731520" y="4526280"/>
            <a:ext cx="10725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.NET 8   ·   PostgreSQL 16   ·   EF Core   ·   xUnit + Testcontainers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31520" y="5989320"/>
            <a:ext cx="10725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Chukwu Emmanuel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31520" y="6291072"/>
            <a:ext cx="10725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A34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A34E"/>
                </a:solidFill>
                <a:latin typeface="Calibri"/>
                <a:ea typeface="Calibri"/>
                <a:cs typeface="Calibri"/>
                <a:sym typeface="Calibri"/>
              </a:rPr>
              <a:t>github.com/skillzo/fbn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lipboard_navy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Problem &amp; Scope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wallet_white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" y="19888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1097280" y="160020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Wallet lifecycle: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create, balance, credit (mock NIP), transfer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bolt_white.png" id="37" name="Google Shape;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" y="31958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/>
        </p:nvSpPr>
        <p:spPr>
          <a:xfrm>
            <a:off x="1097280" y="280720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Concurrency-safe under load: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balance must never go negative, no double-spend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ync_white.png" id="40" name="Google Shape;4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" y="4402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/>
        </p:nvSpPr>
        <p:spPr>
          <a:xfrm>
            <a:off x="1097280" y="4014216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Idempotency-Key: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required on every transfer request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172200" y="1911096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alendar_white.png" id="43" name="Google Shape;4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9924" y="19888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6720840" y="160020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₦500,000 / day limit: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outbound cap per wallet, reset at WAT midnight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72200" y="3118104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hield_white.png" id="46" name="Google Shape;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9924" y="31958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/>
          <p:nvPr/>
        </p:nvSpPr>
        <p:spPr>
          <a:xfrm>
            <a:off x="6720840" y="280720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JWT-protected: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every endpoint, RFC 7807 error format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72200" y="4325112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database_white.png" id="49" name="Google Shape;4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9924" y="4402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 txBox="1"/>
          <p:nvPr/>
        </p:nvSpPr>
        <p:spPr>
          <a:xfrm>
            <a:off x="6720840" y="4014216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Append-only audit trail:  </a:t>
            </a:r>
            <a:r>
              <a:rPr b="0" i="0" lang="en-US" sz="13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every balance mutation, immutable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Treated as a money-correctness problem first, and a feature list second.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layers_navy.png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408176" y="1737360"/>
            <a:ext cx="2788920" cy="1051560"/>
          </a:xfrm>
          <a:prstGeom prst="roundRect">
            <a:avLst>
              <a:gd fmla="val 6957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terminal_navy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9344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2093976" y="1865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Endpoints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609344" y="2304288"/>
            <a:ext cx="23865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Minimal API routes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251960" y="2153412"/>
            <a:ext cx="393192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00016" y="1737360"/>
            <a:ext cx="2788920" cy="1051560"/>
          </a:xfrm>
          <a:prstGeom prst="roundRect">
            <a:avLst>
              <a:gd fmla="val 6957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exchange_navy.png" id="67" name="Google Shape;6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1184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/>
          <p:nvPr/>
        </p:nvSpPr>
        <p:spPr>
          <a:xfrm>
            <a:off x="5385816" y="1865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Services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901184" y="2304288"/>
            <a:ext cx="23865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Business rules, raw SQL for money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543800" y="2153412"/>
            <a:ext cx="393192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991856" y="1737360"/>
            <a:ext cx="2788920" cy="1051560"/>
          </a:xfrm>
          <a:prstGeom prst="roundRect">
            <a:avLst>
              <a:gd fmla="val 6957" name="adj"/>
            </a:avLst>
          </a:prstGeom>
          <a:solidFill>
            <a:srgbClr val="11233D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database_gold.png" id="72" name="Google Shape;7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/>
        </p:nvSpPr>
        <p:spPr>
          <a:xfrm>
            <a:off x="8677656" y="1865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8193024" y="2304288"/>
            <a:ext cx="23865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3E3"/>
                </a:solidFill>
                <a:latin typeface="Calibri"/>
                <a:ea typeface="Calibri"/>
                <a:cs typeface="Calibri"/>
                <a:sym typeface="Calibri"/>
              </a:rPr>
              <a:t>Constraints, triggers, locks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276588" y="2834640"/>
            <a:ext cx="219456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283196" y="3200400"/>
            <a:ext cx="4206240" cy="777240"/>
          </a:xfrm>
          <a:prstGeom prst="roundRect">
            <a:avLst>
              <a:gd fmla="val 9412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ync_navy.png" id="77" name="Google Shape;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4364" y="3401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 txBox="1"/>
          <p:nvPr/>
        </p:nvSpPr>
        <p:spPr>
          <a:xfrm>
            <a:off x="7968996" y="3319272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Outbox Publisher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968996" y="363016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Background hosted service, FOR UPDATE SKIP 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4480560"/>
            <a:ext cx="5394960" cy="960120"/>
          </a:xfrm>
          <a:prstGeom prst="roundRect">
            <a:avLst>
              <a:gd fmla="val 7619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77240" y="459028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No read-modify-write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77240" y="4882896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Money mutations run as raw parameterized SQL inside EF Core, not a balance read in C# followed by a write.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172200" y="4480560"/>
            <a:ext cx="5468112" cy="960120"/>
          </a:xfrm>
          <a:prstGeom prst="roundRect">
            <a:avLst>
              <a:gd fmla="val 7619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6400800" y="45902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Tests </a:t>
            </a:r>
            <a:r>
              <a:rPr b="1" lang="en-US" sz="1300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400800" y="4882896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Funded 50,000 kobo · Parallel 1,000 · Amount each 100 · Succeeded 500 · Rejected 422 500 · Source bal 0 · Dest bal 50,000 · Elapsed 4.01s</a:t>
            </a:r>
            <a:endParaRPr sz="1150">
              <a:solidFill>
                <a:srgbClr val="1F2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database_navy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Data Model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160020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49808" y="178308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97" name="Google Shape;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" y="18653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/>
        </p:nvSpPr>
        <p:spPr>
          <a:xfrm>
            <a:off x="1234440" y="17465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wallets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49808" y="225856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CHECK balance &gt;= 0 · unique per 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352544" y="160020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53712" y="178308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008" y="18653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5038344" y="17465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553712" y="225856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CHECK amount &gt; 0 · indexed by wallet +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156448" y="160020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357616" y="178308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912" y="18653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8842248" y="17465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idempotency_keys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8357616" y="225856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Composite PK (customer, key) + cached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8640" y="333756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49808" y="352044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" y="36027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1234440" y="348386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daily_limits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749808" y="399592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Composite PK (wallet, day), atomic upsert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352544" y="333756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53712" y="352044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008" y="36027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5038344" y="348386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audit_log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4553712" y="399592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Append-only, DB trigger blocks UPDATE / DELETE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156448" y="3337560"/>
            <a:ext cx="3483864" cy="1417320"/>
          </a:xfrm>
          <a:prstGeom prst="roundRect">
            <a:avLst>
              <a:gd fmla="val 516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357616" y="3520440"/>
            <a:ext cx="365760" cy="36576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912" y="36027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8842248" y="348386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ourier New"/>
                <a:ea typeface="Courier New"/>
                <a:cs typeface="Courier New"/>
                <a:sym typeface="Courier New"/>
              </a:rPr>
              <a:t>outbox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357616" y="3995928"/>
            <a:ext cx="3081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Filtered index on unprocessed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exchange_navy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Transfer Flow: Core Design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1618488"/>
            <a:ext cx="347472" cy="347472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48640" y="16184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51560" y="1545336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Validate ownership (403) and destination exists (404)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7"/>
          <p:cNvCxnSpPr/>
          <p:nvPr/>
        </p:nvCxnSpPr>
        <p:spPr>
          <a:xfrm>
            <a:off x="722376" y="1984248"/>
            <a:ext cx="0" cy="242316"/>
          </a:xfrm>
          <a:prstGeom prst="straightConnector1">
            <a:avLst/>
          </a:prstGeom>
          <a:noFill/>
          <a:ln cap="flat" cmpd="sng" w="19050">
            <a:solidFill>
              <a:srgbClr val="E1E6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8" name="Google Shape;138;p7"/>
          <p:cNvSpPr/>
          <p:nvPr/>
        </p:nvSpPr>
        <p:spPr>
          <a:xfrm>
            <a:off x="548640" y="2244852"/>
            <a:ext cx="347472" cy="347472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48640" y="22448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051560" y="2171700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Open one database transaction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722376" y="2610612"/>
            <a:ext cx="0" cy="242316"/>
          </a:xfrm>
          <a:prstGeom prst="straightConnector1">
            <a:avLst/>
          </a:prstGeom>
          <a:noFill/>
          <a:ln cap="flat" cmpd="sng" w="19050">
            <a:solidFill>
              <a:srgbClr val="E1E6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" name="Google Shape;142;p7"/>
          <p:cNvSpPr/>
          <p:nvPr/>
        </p:nvSpPr>
        <p:spPr>
          <a:xfrm>
            <a:off x="548640" y="2871216"/>
            <a:ext cx="347472" cy="347472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48640" y="28712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1051560" y="2798064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Claim Idempotency-Key, via a unique constraint, not check-then-insert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722376" y="3236976"/>
            <a:ext cx="0" cy="242316"/>
          </a:xfrm>
          <a:prstGeom prst="straightConnector1">
            <a:avLst/>
          </a:prstGeom>
          <a:noFill/>
          <a:ln cap="flat" cmpd="sng" w="19050">
            <a:solidFill>
              <a:srgbClr val="E1E6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548640" y="3497580"/>
            <a:ext cx="347472" cy="347472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548640" y="34975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051560" y="3424428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Apply daily limit, an atomic upsert with the cap enforced in the WHERE clause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722376" y="3863340"/>
            <a:ext cx="0" cy="242316"/>
          </a:xfrm>
          <a:prstGeom prst="straightConnector1">
            <a:avLst/>
          </a:prstGeom>
          <a:noFill/>
          <a:ln cap="flat" cmpd="sng" w="19050">
            <a:solidFill>
              <a:srgbClr val="E1E6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548640" y="4123944"/>
            <a:ext cx="347472" cy="347472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548640" y="41239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1051560" y="4050792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Debit → credit, in deterministic wallet-ID order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722376" y="4489704"/>
            <a:ext cx="0" cy="242316"/>
          </a:xfrm>
          <a:prstGeom prst="straightConnector1">
            <a:avLst/>
          </a:prstGeom>
          <a:noFill/>
          <a:ln cap="flat" cmpd="sng" w="19050">
            <a:solidFill>
              <a:srgbClr val="E1E6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548640" y="4750308"/>
            <a:ext cx="347472" cy="34747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48640" y="47503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051560" y="4677156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Write transaction + 2 audit rows + 1 outbox row, then commit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452360" y="1600200"/>
            <a:ext cx="4187952" cy="2331720"/>
          </a:xfrm>
          <a:prstGeom prst="roundRect">
            <a:avLst>
              <a:gd fmla="val 3137" name="adj"/>
            </a:avLst>
          </a:prstGeom>
          <a:solidFill>
            <a:srgbClr val="11233D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7452360" y="1856232"/>
            <a:ext cx="41879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A34E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C7A34E"/>
                </a:solidFill>
                <a:latin typeface="Cambria"/>
                <a:ea typeface="Cambria"/>
                <a:cs typeface="Cambria"/>
                <a:sym typeface="Cambria"/>
              </a:rPr>
              <a:t>500 / 500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7452360" y="2697480"/>
            <a:ext cx="4187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3E3"/>
                </a:solidFill>
                <a:latin typeface="Calibri"/>
                <a:ea typeface="Calibri"/>
                <a:cs typeface="Calibri"/>
                <a:sym typeface="Calibri"/>
              </a:rPr>
              <a:t>exact split under 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7772400" y="3200400"/>
            <a:ext cx="35478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 parallel transfers against a ₦50,000 balance: 0 balance drift.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452360" y="4142232"/>
            <a:ext cx="4187952" cy="960120"/>
          </a:xfrm>
          <a:prstGeom prst="roundRect">
            <a:avLst>
              <a:gd fmla="val 7619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635240" y="4430268"/>
            <a:ext cx="384048" cy="384048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ync_gold.png"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7536" y="451256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8138160" y="4142232"/>
            <a:ext cx="33192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Opposing A↔B transfers, 100 in parallel: no deadlock, no 5xx, total conserved.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lock_navy.png"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Why Pessimistic Locking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1554480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11233D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822960" y="1554480"/>
            <a:ext cx="105430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A34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UPDATE wallets SET balance = balance ± amt WHERE id=@id AND balance &gt;= @amt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548640" y="2468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Rejected alternatives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cons/ban_navy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8620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914400" y="2788920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Optimistic concurrency (version + retry): </a:t>
            </a: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causes a retry storm on a hot wallet, redoing the whole transaction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cons/ban_navy.png"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/>
        </p:nvSpPr>
        <p:spPr>
          <a:xfrm>
            <a:off x="914400" y="350215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SERIALIZABLE isolation: </a:t>
            </a: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same retry storm, wider blast radius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cons/ban_navy.png" id="181" name="Google Shape;1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2885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914400" y="4215384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SELECT FOR UPDATE, then UPDATE: </a:t>
            </a: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an extra round trip, and a second place to get ordering wrong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355080" y="2468880"/>
            <a:ext cx="5285232" cy="2514600"/>
          </a:xfrm>
          <a:prstGeom prst="roundRect">
            <a:avLst>
              <a:gd fmla="val 2909" name="adj"/>
            </a:avLst>
          </a:prstGeom>
          <a:solidFill>
            <a:srgbClr val="FBF6EA"/>
          </a:solidFill>
          <a:ln cap="flat" cmpd="sng" w="9525">
            <a:solidFill>
              <a:srgbClr val="E4D3A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navy.png"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26791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7040880" y="2651760"/>
            <a:ext cx="4370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What actually prevents deadlock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6583680" y="3136392"/>
            <a:ext cx="48280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Deterministic wallet-ID ordering: lower ID locked first, on every transfer. Without it, A→B and B→A running concurrently each hold one lock and wait on the other forever.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583680" y="4206240"/>
            <a:ext cx="48280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row-level write lock is held to commit, so a concurrent transfer on the same wallet blocks instead of racing.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5093208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777240" y="5166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Tradeoffs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777240" y="5422392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 hot wallet serializes (real ceiling for a high-traffic collection wallet)   ·   the lock spans the whole transaction, not just the balance write   ·   single-instance only, doesn't span shards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ync_navy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Idempotency &amp; Daily Limit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fmla="val 1667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77240" y="1783080"/>
            <a:ext cx="420624" cy="420624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ync_gold.png"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" y="18928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1325880" y="181051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Idempotency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22960" y="230428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WHAT I DID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822960" y="2523744"/>
            <a:ext cx="4846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Claimed the key with an INSERT protected by a unique (customer, key) constraint, not a check-then-insert.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22960" y="312724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822960" y="33467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 check-then-insert leaves a window where two concurrent requests can both pass the check before either commits, and both debit the wallet.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22960" y="3986784"/>
            <a:ext cx="4846320" cy="1828800"/>
          </a:xfrm>
          <a:prstGeom prst="roundRect">
            <a:avLst>
              <a:gd fmla="val 4000" name="adj"/>
            </a:avLst>
          </a:prstGeom>
          <a:solidFill>
            <a:srgbClr val="EFF3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1005840" y="411480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1005840" y="4370832"/>
            <a:ext cx="448056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10 parallel requests, one key: all 10 returned 201 with the identical transaction id, and the sender was debited exactly once. A repeat with a different amount was rejected, 422.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245352" y="1554480"/>
            <a:ext cx="5394960" cy="4389120"/>
          </a:xfrm>
          <a:prstGeom prst="roundRect">
            <a:avLst>
              <a:gd fmla="val 1667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73952" y="1783080"/>
            <a:ext cx="420624" cy="420624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alendar_gold.png"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18928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7022592" y="181051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Daily Limit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6519672" y="230428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WHAT I DID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6519672" y="2523744"/>
            <a:ext cx="4846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Enforced the ₦500,000 cap inside the same atomic upsert that records the day's running total, in the transfer transaction.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6519672" y="312724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519672" y="33467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 separate step to check the remaining limit before writing has exactly the same race window as idempotency does.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519672" y="3986784"/>
            <a:ext cx="4846320" cy="1828800"/>
          </a:xfrm>
          <a:prstGeom prst="roundRect">
            <a:avLst>
              <a:gd fmla="val 4000" name="adj"/>
            </a:avLst>
          </a:prstGeom>
          <a:solidFill>
            <a:srgbClr val="EFF3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6702552" y="411480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7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7A2E"/>
                </a:solidFill>
                <a:latin typeface="Calibri"/>
                <a:ea typeface="Calibri"/>
                <a:cs typeface="Calibri"/>
                <a:sym typeface="Calibri"/>
              </a:rPr>
              <a:t>RESULT (INJECTED CLOCK)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6702552" y="4370832"/>
            <a:ext cx="448056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 ₦3,000 transfer inside the cap succeeded. A second ₦3,000 that would breach the ₦5,000 cap was rejected. The same transfer succeeded again once the clock crossed WAT midnight.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hield_navy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Security &amp; Test Coverage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1600200"/>
            <a:ext cx="5385816" cy="1481328"/>
          </a:xfrm>
          <a:prstGeom prst="roundRect">
            <a:avLst>
              <a:gd fmla="val 4938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77240" y="1801368"/>
            <a:ext cx="402336" cy="402336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shield_gold.png" id="233" name="Google Shape;2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" y="19110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 txBox="1"/>
          <p:nvPr/>
        </p:nvSpPr>
        <p:spPr>
          <a:xfrm>
            <a:off x="1325880" y="1819656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Auth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822960" y="225856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No token → 401. Customer hitting the credit endpoint → 403.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54496" y="1600200"/>
            <a:ext cx="5385816" cy="1481328"/>
          </a:xfrm>
          <a:prstGeom prst="roundRect">
            <a:avLst>
              <a:gd fmla="val 4938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83096" y="1801368"/>
            <a:ext cx="402336" cy="402336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ban_gold.png" id="238" name="Google Shape;23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2824" y="19110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7031736" y="1819656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Ownership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6528816" y="225856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Reading another customer's wallet → 404, not 403. Existence isn't leaked.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48640" y="3374136"/>
            <a:ext cx="5385816" cy="1481328"/>
          </a:xfrm>
          <a:prstGeom prst="roundRect">
            <a:avLst>
              <a:gd fmla="val 4938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77240" y="3575304"/>
            <a:ext cx="402336" cy="402336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lock_gold.png" id="243" name="Google Shape;2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36850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/>
          <p:nvPr/>
        </p:nvSpPr>
        <p:spPr>
          <a:xfrm>
            <a:off x="1325880" y="3593592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Audit Immutability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822960" y="4032504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A direct edit attempt on an audit row throws: enforced at the DB engine, not app code.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254496" y="3374136"/>
            <a:ext cx="5385816" cy="1481328"/>
          </a:xfrm>
          <a:prstGeom prst="roundRect">
            <a:avLst>
              <a:gd fmla="val 4938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5B1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483096" y="3575304"/>
            <a:ext cx="402336" cy="402336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check_gold.png" id="248" name="Google Shape;24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2824" y="36850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 txBox="1"/>
          <p:nvPr/>
        </p:nvSpPr>
        <p:spPr>
          <a:xfrm>
            <a:off x="7031736" y="3593592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Outbox Reliability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6528816" y="4032504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A3D"/>
                </a:solidFill>
                <a:latin typeface="Calibri"/>
                <a:ea typeface="Calibri"/>
                <a:cs typeface="Calibri"/>
                <a:sym typeface="Calibri"/>
              </a:rPr>
              <a:t>Success writes exactly one event row; failure writes zero; the publisher marks it processed within its poll window.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deck/icons/robot_navy.png" id="258" name="Google Shape;2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6172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 txBox="1"/>
          <p:nvPr/>
        </p:nvSpPr>
        <p:spPr>
          <a:xfrm>
            <a:off x="1371600" y="493776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2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1233D"/>
                </a:solidFill>
                <a:latin typeface="Cambria"/>
                <a:ea typeface="Cambria"/>
                <a:cs typeface="Cambria"/>
                <a:sym typeface="Cambria"/>
              </a:rPr>
              <a:t>AI Usage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920495" y="3246120"/>
            <a:ext cx="2395728" cy="868680"/>
          </a:xfrm>
          <a:prstGeom prst="roundRect">
            <a:avLst>
              <a:gd fmla="val 50000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121663" y="3451860"/>
            <a:ext cx="457200" cy="45720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2" name="Google Shape;26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0535" y="35707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 txBox="1"/>
          <p:nvPr/>
        </p:nvSpPr>
        <p:spPr>
          <a:xfrm>
            <a:off x="1706879" y="324612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3572255" y="3246120"/>
            <a:ext cx="2395728" cy="868680"/>
          </a:xfrm>
          <a:prstGeom prst="roundRect">
            <a:avLst>
              <a:gd fmla="val 50000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773423" y="3451860"/>
            <a:ext cx="457200" cy="45720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change_gold.png" id="266" name="Google Shape;26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2295" y="35707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 txBox="1"/>
          <p:nvPr/>
        </p:nvSpPr>
        <p:spPr>
          <a:xfrm>
            <a:off x="4358639" y="324612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224015" y="3246120"/>
            <a:ext cx="2395728" cy="868680"/>
          </a:xfrm>
          <a:prstGeom prst="roundRect">
            <a:avLst>
              <a:gd fmla="val 50000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425183" y="3451860"/>
            <a:ext cx="457200" cy="45720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0" name="Google Shape;27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4055" y="35707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 txBox="1"/>
          <p:nvPr/>
        </p:nvSpPr>
        <p:spPr>
          <a:xfrm>
            <a:off x="7010399" y="324612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Mistakes Caught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8875775" y="3246120"/>
            <a:ext cx="2395728" cy="868680"/>
          </a:xfrm>
          <a:prstGeom prst="roundRect">
            <a:avLst>
              <a:gd fmla="val 50000" name="adj"/>
            </a:avLst>
          </a:prstGeom>
          <a:solidFill>
            <a:srgbClr val="F3F5F8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076943" y="3451860"/>
            <a:ext cx="457200" cy="457200"/>
          </a:xfrm>
          <a:prstGeom prst="ellipse">
            <a:avLst/>
          </a:prstGeom>
          <a:solidFill>
            <a:srgbClr val="112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lt_gold.png" id="274" name="Google Shape;27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95815" y="35707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 txBox="1"/>
          <p:nvPr/>
        </p:nvSpPr>
        <p:spPr>
          <a:xfrm>
            <a:off x="9662159" y="324612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233D"/>
                </a:solidFill>
                <a:latin typeface="Calibri"/>
                <a:ea typeface="Calibri"/>
                <a:cs typeface="Calibri"/>
                <a:sym typeface="Calibri"/>
              </a:rPr>
              <a:t>Improvements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548640" y="4434840"/>
            <a:ext cx="1109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1506199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33D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5593079" y="1600200"/>
            <a:ext cx="1005840" cy="1005840"/>
          </a:xfrm>
          <a:prstGeom prst="ellipse">
            <a:avLst/>
          </a:prstGeom>
          <a:solidFill>
            <a:srgbClr val="C7A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4" name="Google Shape;2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1679" y="18288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 txBox="1"/>
          <p:nvPr/>
        </p:nvSpPr>
        <p:spPr>
          <a:xfrm>
            <a:off x="731520" y="2880360"/>
            <a:ext cx="10728959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731520" y="3703320"/>
            <a:ext cx="1072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7A34E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731520" y="4526280"/>
            <a:ext cx="1072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731520" y="5989320"/>
            <a:ext cx="107289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Chukwu Emmanuel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731520" y="6291072"/>
            <a:ext cx="107289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7A34E"/>
                </a:solidFill>
                <a:latin typeface="Calibri"/>
                <a:ea typeface="Calibri"/>
                <a:cs typeface="Calibri"/>
                <a:sym typeface="Calibri"/>
              </a:rPr>
              <a:t>github.com/skillzo/fbn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